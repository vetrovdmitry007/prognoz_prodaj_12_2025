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4630400" cy="8229600"/>
  <p:notesSz cx="8229600" cy="146304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2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5396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24564"/>
            <a:ext cx="9694069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Прогноз продаж Юперио (08–10.2025)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3142298"/>
            <a:ext cx="13042821" cy="992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Аналитическая модель аптечных продаж на основе временных рядов, GEO и ML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793789" y="6503721"/>
            <a:ext cx="13042821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Апрель 2025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793788" y="4366523"/>
            <a:ext cx="130428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Данная презентация демонстрирует инновационный подход к прогнозированию продаж фармацевтической продукции, учитывающий сезонные колебания, географические особенности и применение машинного обучения для повышения точности прогнозов.</a:t>
            </a:r>
            <a:endParaRPr lang="en-US" sz="1550" i="1" dirty="0"/>
          </a:p>
        </p:txBody>
      </p:sp>
      <p:pic>
        <p:nvPicPr>
          <p:cNvPr id="6" name="Picture 20">
            <a:extLst>
              <a:ext uri="{FF2B5EF4-FFF2-40B4-BE49-F238E27FC236}">
                <a16:creationId xmlns:a16="http://schemas.microsoft.com/office/drawing/2014/main" id="{240EB1A4-452B-EC3F-4897-F0140AC5BA7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20814" y="347390"/>
            <a:ext cx="1915795" cy="6115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7956" y="541734"/>
            <a:ext cx="4967407" cy="584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Цель модели и охват</a:t>
            </a:r>
            <a:endParaRPr lang="en-US" sz="3650" dirty="0"/>
          </a:p>
        </p:txBody>
      </p:sp>
      <p:sp>
        <p:nvSpPr>
          <p:cNvPr id="3" name="Shape 1"/>
          <p:cNvSpPr/>
          <p:nvPr/>
        </p:nvSpPr>
        <p:spPr>
          <a:xfrm>
            <a:off x="787956" y="1500783"/>
            <a:ext cx="13054489" cy="1423392"/>
          </a:xfrm>
          <a:prstGeom prst="roundRect">
            <a:avLst>
              <a:gd name="adj" fmla="val 5523"/>
            </a:avLst>
          </a:prstGeom>
          <a:solidFill>
            <a:srgbClr val="FFFFFF"/>
          </a:solidFill>
          <a:ln w="22860">
            <a:solidFill>
              <a:srgbClr val="4950B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787956" y="1500783"/>
            <a:ext cx="91440" cy="1423392"/>
          </a:xfrm>
          <a:prstGeom prst="roundRect">
            <a:avLst>
              <a:gd name="adj" fmla="val 85968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1089303" y="1710690"/>
            <a:ext cx="2555081" cy="292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Повышение точности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89303" y="2115383"/>
            <a:ext cx="12543234" cy="598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Достижение </a:t>
            </a:r>
            <a:r>
              <a:rPr lang="en-US" sz="14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98% точности</a:t>
            </a: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прогнозов аптечных продаж за счёт интеграции временных рядов, региональных факторов и GEO-аналитики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87956" y="3228142"/>
            <a:ext cx="6410325" cy="617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850"/>
              </a:lnSpc>
              <a:buNone/>
            </a:pPr>
            <a:r>
              <a:rPr lang="en-US" sz="4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4 570</a:t>
            </a:r>
            <a:endParaRPr lang="en-US" sz="4850" dirty="0"/>
          </a:p>
        </p:txBody>
      </p:sp>
      <p:sp>
        <p:nvSpPr>
          <p:cNvPr id="8" name="Text 6"/>
          <p:cNvSpPr/>
          <p:nvPr/>
        </p:nvSpPr>
        <p:spPr>
          <a:xfrm>
            <a:off x="2823329" y="4079438"/>
            <a:ext cx="2339459" cy="292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Аптек в прогнозе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87956" y="4484132"/>
            <a:ext cx="6410325" cy="598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Полный охват аптечной сети по всей территории Российской Федерации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432119" y="3228142"/>
            <a:ext cx="6410325" cy="617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850"/>
              </a:lnSpc>
              <a:buNone/>
            </a:pPr>
            <a:r>
              <a:rPr lang="en-US" sz="4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19 мес.</a:t>
            </a:r>
            <a:endParaRPr lang="en-US" sz="4850" dirty="0"/>
          </a:p>
        </p:txBody>
      </p:sp>
      <p:sp>
        <p:nvSpPr>
          <p:cNvPr id="11" name="Text 9"/>
          <p:cNvSpPr/>
          <p:nvPr/>
        </p:nvSpPr>
        <p:spPr>
          <a:xfrm>
            <a:off x="9467493" y="4079438"/>
            <a:ext cx="2339459" cy="292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Период данных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432119" y="4484132"/>
            <a:ext cx="6410325" cy="299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Январь 2024 – Июль 2025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87956" y="5363647"/>
            <a:ext cx="4533900" cy="350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Классификация аптек в модели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87956" y="6205657"/>
            <a:ext cx="4002048" cy="1274445"/>
          </a:xfrm>
          <a:prstGeom prst="roundRect">
            <a:avLst>
              <a:gd name="adj" fmla="val 6168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003" y="6463308"/>
            <a:ext cx="292418" cy="233839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454468" y="6439376"/>
            <a:ext cx="2339459" cy="292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Стабильные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454468" y="6918841"/>
            <a:ext cx="3148489" cy="299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1 099 аптек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5254109" y="6205657"/>
            <a:ext cx="4002048" cy="1274445"/>
          </a:xfrm>
          <a:prstGeom prst="roundRect">
            <a:avLst>
              <a:gd name="adj" fmla="val 6168"/>
            </a:avLst>
          </a:prstGeom>
          <a:solidFill>
            <a:srgbClr val="FCF2B5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1156" y="6463308"/>
            <a:ext cx="292418" cy="233839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920621" y="6439376"/>
            <a:ext cx="2339459" cy="292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Нестабильные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5920621" y="6918841"/>
            <a:ext cx="3148489" cy="299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2 044 аптеки</a:t>
            </a:r>
            <a:endParaRPr lang="en-US" sz="1450" dirty="0"/>
          </a:p>
        </p:txBody>
      </p:sp>
      <p:sp>
        <p:nvSpPr>
          <p:cNvPr id="22" name="Shape 18"/>
          <p:cNvSpPr/>
          <p:nvPr/>
        </p:nvSpPr>
        <p:spPr>
          <a:xfrm>
            <a:off x="9720262" y="6205657"/>
            <a:ext cx="4137184" cy="1274445"/>
          </a:xfrm>
          <a:prstGeom prst="roundRect">
            <a:avLst>
              <a:gd name="adj" fmla="val 6168"/>
            </a:avLst>
          </a:prstGeom>
          <a:solidFill>
            <a:srgbClr val="C7C9EA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7310" y="6463308"/>
            <a:ext cx="292418" cy="233839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0386774" y="6439376"/>
            <a:ext cx="2339459" cy="292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Низкопродажные</a:t>
            </a:r>
            <a:endParaRPr lang="en-US" sz="1800" dirty="0"/>
          </a:p>
        </p:txBody>
      </p:sp>
      <p:sp>
        <p:nvSpPr>
          <p:cNvPr id="25" name="Text 20"/>
          <p:cNvSpPr/>
          <p:nvPr/>
        </p:nvSpPr>
        <p:spPr>
          <a:xfrm>
            <a:off x="10386774" y="6918841"/>
            <a:ext cx="3283625" cy="299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1 427 аптек</a:t>
            </a:r>
            <a:endParaRPr lang="en-US" sz="1450" dirty="0"/>
          </a:p>
        </p:txBody>
      </p:sp>
      <p:pic>
        <p:nvPicPr>
          <p:cNvPr id="26" name="Picture 20">
            <a:extLst>
              <a:ext uri="{FF2B5EF4-FFF2-40B4-BE49-F238E27FC236}">
                <a16:creationId xmlns:a16="http://schemas.microsoft.com/office/drawing/2014/main" id="{3FB6A036-BCE9-364B-E2FD-A271598515A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20814" y="347390"/>
            <a:ext cx="1915795" cy="6115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13009"/>
            <a:ext cx="7577257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Цифры прогноза (08–10.2025)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229922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 основе разработанной аналитической модели сформирован детальный прогноз продаж по всей сети аптек на ближайший квартал: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3088243"/>
            <a:ext cx="13042821" cy="2353389"/>
          </a:xfrm>
          <a:prstGeom prst="roundRect">
            <a:avLst>
              <a:gd name="adj" fmla="val 3542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801410" y="3095863"/>
            <a:ext cx="13027581" cy="62543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999768" y="322254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Месяц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517368" y="3222546"/>
            <a:ext cx="3149322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Прогноз продаж, шт.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801410" y="3721298"/>
            <a:ext cx="1302758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999768" y="3847981"/>
            <a:ext cx="61132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Август 2025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517368" y="3847981"/>
            <a:ext cx="61132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≈ 23 966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01410" y="4292203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999768" y="4418886"/>
            <a:ext cx="61132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Сентябрь 2025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517368" y="4418886"/>
            <a:ext cx="61132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≈ 24 258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801410" y="4863108"/>
            <a:ext cx="1302758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999768" y="4989790"/>
            <a:ext cx="61132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Октябрь 2025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7517368" y="4989790"/>
            <a:ext cx="61132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≈ 24 558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793790" y="5664875"/>
            <a:ext cx="13042821" cy="1351717"/>
          </a:xfrm>
          <a:prstGeom prst="roundRect">
            <a:avLst>
              <a:gd name="adj" fmla="val 6167"/>
            </a:avLst>
          </a:prstGeom>
          <a:solidFill>
            <a:srgbClr val="B6FCB8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48" y="5939552"/>
            <a:ext cx="310039" cy="248007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500545" y="5912763"/>
            <a:ext cx="403443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Суммарный прогноз на квартал</a:t>
            </a:r>
            <a:endParaRPr lang="en-US" sz="1950" dirty="0"/>
          </a:p>
        </p:txBody>
      </p:sp>
      <p:sp>
        <p:nvSpPr>
          <p:cNvPr id="20" name="Text 17"/>
          <p:cNvSpPr/>
          <p:nvPr/>
        </p:nvSpPr>
        <p:spPr>
          <a:xfrm>
            <a:off x="1500545" y="6421279"/>
            <a:ext cx="1213770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Общий объем продаж за три месяца составит </a:t>
            </a:r>
            <a:r>
              <a:rPr lang="en-US" sz="1550" b="1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~72,8 тыс. шт.</a:t>
            </a: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с устойчивой тенденцией к росту</a:t>
            </a:r>
            <a:endParaRPr lang="en-US" sz="155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69DFEF0-6DFC-388E-AC81-DA8E23FB78F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20814" y="347390"/>
            <a:ext cx="1915795" cy="6115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50250"/>
            <a:ext cx="762595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Ключевые выводы и эффекты</a:t>
            </a:r>
            <a:endParaRPr lang="en-US" sz="3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067163"/>
            <a:ext cx="4347567" cy="7937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92148" y="305931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Стабильные аптеки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992148" y="3488531"/>
            <a:ext cx="395085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Линейный тренд + среднее значение</a:t>
            </a:r>
            <a:endParaRPr lang="en-US" sz="1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1357" y="2067163"/>
            <a:ext cx="4347567" cy="79379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39715" y="3059311"/>
            <a:ext cx="277165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Нестабильные аптеки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5339715" y="3488531"/>
            <a:ext cx="395085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Медиана + скользящее среднее</a:t>
            </a:r>
            <a:endParaRPr lang="en-US" sz="15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8924" y="2067163"/>
            <a:ext cx="4347567" cy="79379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87282" y="3059311"/>
            <a:ext cx="316611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Низкопродажные аптеки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9687282" y="3488531"/>
            <a:ext cx="395085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Простой прогноз с поправкой GEO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793790" y="4426029"/>
            <a:ext cx="399180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Технические особенности</a:t>
            </a:r>
            <a:endParaRPr lang="en-US" sz="2300" dirty="0"/>
          </a:p>
        </p:txBody>
      </p:sp>
      <p:sp>
        <p:nvSpPr>
          <p:cNvPr id="13" name="Text 8"/>
          <p:cNvSpPr/>
          <p:nvPr/>
        </p:nvSpPr>
        <p:spPr>
          <a:xfrm>
            <a:off x="793790" y="4996458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Геобалл </a:t>
            </a:r>
            <a:r>
              <a:rPr lang="en-US" sz="15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применяется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к </a:t>
            </a:r>
            <a:r>
              <a:rPr lang="en-US" sz="15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точкам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5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для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корректного учёта их потенциала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793790" y="5700951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ML (</a:t>
            </a:r>
            <a:r>
              <a:rPr lang="en-US" sz="15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Gradient Boosting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корректирует baseline, улучшая точность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793790" y="6405443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Адаптивная система под различные типы аптек</a:t>
            </a:r>
            <a:endParaRPr lang="en-US" sz="1550" dirty="0"/>
          </a:p>
        </p:txBody>
      </p:sp>
      <p:sp>
        <p:nvSpPr>
          <p:cNvPr id="16" name="Text 11"/>
          <p:cNvSpPr/>
          <p:nvPr/>
        </p:nvSpPr>
        <p:spPr>
          <a:xfrm>
            <a:off x="7564874" y="442602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Бизнес-эффекты</a:t>
            </a:r>
            <a:endParaRPr lang="en-US" sz="2300" dirty="0"/>
          </a:p>
        </p:txBody>
      </p:sp>
      <p:sp>
        <p:nvSpPr>
          <p:cNvPr id="17" name="Text 12"/>
          <p:cNvSpPr/>
          <p:nvPr/>
        </p:nvSpPr>
        <p:spPr>
          <a:xfrm>
            <a:off x="7564874" y="4996458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Повышение точности планирования запасов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7564874" y="5383411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Индивидуальный подход к разным категориям точек продаж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7564874" y="6087904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Готовность к расширению GEO-факторов при открытии новых точек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7564874" y="6792397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Оптимизация логистических затрат</a:t>
            </a:r>
            <a:endParaRPr lang="en-US" sz="1550" dirty="0"/>
          </a:p>
        </p:txBody>
      </p:sp>
      <p:pic>
        <p:nvPicPr>
          <p:cNvPr id="22" name="Picture 20">
            <a:extLst>
              <a:ext uri="{FF2B5EF4-FFF2-40B4-BE49-F238E27FC236}">
                <a16:creationId xmlns:a16="http://schemas.microsoft.com/office/drawing/2014/main" id="{C71B7301-6CE2-1584-62D6-9CD104EF98E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20814" y="347390"/>
            <a:ext cx="1915795" cy="61150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465</TotalTime>
  <Words>252</Words>
  <Application>Microsoft Office PowerPoint</Application>
  <PresentationFormat>Произвольный</PresentationFormat>
  <Paragraphs>52</Paragraphs>
  <Slides>4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8" baseType="lpstr">
      <vt:lpstr>Arial</vt:lpstr>
      <vt:lpstr>Inter</vt:lpstr>
      <vt:lpstr>Inter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Alex Alex</dc:creator>
  <cp:lastModifiedBy>Александра Молчанова</cp:lastModifiedBy>
  <cp:revision>2</cp:revision>
  <dcterms:created xsi:type="dcterms:W3CDTF">2025-08-28T09:29:26Z</dcterms:created>
  <dcterms:modified xsi:type="dcterms:W3CDTF">2025-08-28T17:14:48Z</dcterms:modified>
</cp:coreProperties>
</file>